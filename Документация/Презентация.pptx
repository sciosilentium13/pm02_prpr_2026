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6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E6733-B7E3-424D-9816-2A49899E391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ED7B7-5E05-47D3-A199-05B074EA2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50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ED7B7-5E05-47D3-A199-05B074EA2F8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46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90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29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65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2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9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80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48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47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70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7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81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1C5F337-B690-48AE-95B1-756361D56B45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94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7C207-7D7B-41A3-CDC9-15D005E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68" y="4960137"/>
            <a:ext cx="8128932" cy="146304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</a:t>
            </a:r>
            <a:br>
              <a:rPr lang="ru-RU" dirty="0"/>
            </a:br>
            <a:r>
              <a:rPr lang="ru-RU" sz="2800" dirty="0"/>
              <a:t>Пестов Арсений Николаевич</a:t>
            </a:r>
            <a:endParaRPr lang="ru-RU" b="1" i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AF065C-A39A-F20F-5A3F-71E16FF57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ПМ. </a:t>
            </a:r>
            <a:r>
              <a:rPr lang="ru-RU" sz="5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02</a:t>
            </a:r>
            <a:r>
              <a:rPr lang="ru-RU" sz="5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BD012-E808-FEC8-508A-CDA3CCD760A4}"/>
              </a:ext>
            </a:extLst>
          </p:cNvPr>
          <p:cNvSpPr txBox="1"/>
          <p:nvPr/>
        </p:nvSpPr>
        <p:spPr>
          <a:xfrm>
            <a:off x="0" y="402672"/>
            <a:ext cx="1219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dirty="0">
                <a:solidFill>
                  <a:schemeClr val="accent3"/>
                </a:solidFill>
                <a:highlight>
                  <a:srgbClr val="000000"/>
                </a:highlight>
              </a:rPr>
              <a:t>Осуществление интеграции программных модулей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7AA4D-D2DD-FD06-1044-E31116E962DA}"/>
              </a:ext>
            </a:extLst>
          </p:cNvPr>
          <p:cNvSpPr txBox="1"/>
          <p:nvPr/>
        </p:nvSpPr>
        <p:spPr>
          <a:xfrm>
            <a:off x="89483" y="2976852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Руководитель практики от организации: </a:t>
            </a:r>
            <a:r>
              <a:rPr lang="ru-RU" sz="2400" dirty="0" err="1">
                <a:solidFill>
                  <a:schemeClr val="bg1"/>
                </a:solidFill>
                <a:highlight>
                  <a:srgbClr val="008000"/>
                </a:highlight>
              </a:rPr>
              <a:t>Зязин</a:t>
            </a:r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 Сергей Валерьевич</a:t>
            </a:r>
          </a:p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Руководитель практики от колледжа: Седов Алексей Сергеевич</a:t>
            </a:r>
          </a:p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Год: 2026г.</a:t>
            </a:r>
          </a:p>
        </p:txBody>
      </p:sp>
    </p:spTree>
    <p:extLst>
      <p:ext uri="{BB962C8B-B14F-4D97-AF65-F5344CB8AC3E}">
        <p14:creationId xmlns:p14="http://schemas.microsoft.com/office/powerpoint/2010/main" val="106975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A7EC9-71F2-3956-CD2C-99E733DF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Autofit/>
          </a:bodyPr>
          <a:lstStyle/>
          <a:p>
            <a:r>
              <a:rPr lang="ru-RU" sz="4800" dirty="0"/>
              <a:t>Характеристика объекта практики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7ED6A62-0CDD-9930-4B4F-C17403CC9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50455-A680-58F0-2CC7-7816E01E4F3C}"/>
              </a:ext>
            </a:extLst>
          </p:cNvPr>
          <p:cNvSpPr txBox="1"/>
          <p:nvPr/>
        </p:nvSpPr>
        <p:spPr>
          <a:xfrm>
            <a:off x="365286" y="4445999"/>
            <a:ext cx="11314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000" b="1" dirty="0"/>
              <a:t>Состав программного и технического обеспечения, имеющегося на предприятии: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Операционная система</a:t>
            </a:r>
            <a:r>
              <a:rPr lang="ru-RU" sz="2000" b="1" dirty="0"/>
              <a:t>:</a:t>
            </a:r>
            <a:r>
              <a:rPr lang="ru-RU" sz="2000" dirty="0"/>
              <a:t> Windows 10 Pro.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1С:Предприятие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Антивирус </a:t>
            </a:r>
            <a:r>
              <a:rPr lang="ru-RU" sz="2000" dirty="0" err="1"/>
              <a:t>ClamAV</a:t>
            </a:r>
            <a:r>
              <a:rPr lang="ru-RU" sz="2000" dirty="0"/>
              <a:t> 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Дополнительное ПО</a:t>
            </a:r>
            <a:r>
              <a:rPr lang="ru-RU" sz="2000" b="1" dirty="0"/>
              <a:t>:</a:t>
            </a:r>
            <a:r>
              <a:rPr lang="ru-RU" sz="2000" dirty="0"/>
              <a:t> Total Commander, </a:t>
            </a:r>
            <a:r>
              <a:rPr lang="ru-RU" sz="2000" dirty="0" err="1"/>
              <a:t>IrfanView</a:t>
            </a:r>
            <a:r>
              <a:rPr lang="ru-RU" sz="2000" dirty="0"/>
              <a:t>, Firefox.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Техническое обеспечение</a:t>
            </a:r>
            <a:r>
              <a:rPr lang="ru-RU" sz="2000" b="1" dirty="0"/>
              <a:t>:</a:t>
            </a:r>
            <a:r>
              <a:rPr lang="ru-RU" sz="2000" dirty="0"/>
              <a:t> компьютеры (Intel Core i3/i5, 8 ГБ ОЗУ), принтеры.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45B59-B760-EB31-758A-C1D3AE0BAC9B}"/>
              </a:ext>
            </a:extLst>
          </p:cNvPr>
          <p:cNvSpPr txBox="1"/>
          <p:nvPr/>
        </p:nvSpPr>
        <p:spPr>
          <a:xfrm>
            <a:off x="365285" y="2017719"/>
            <a:ext cx="113146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Объектом практики является отдел социального развития администрации города Слободского. </a:t>
            </a:r>
          </a:p>
          <a:p>
            <a:pPr algn="just"/>
            <a:r>
              <a:rPr lang="ru-RU" sz="2000" b="1" dirty="0"/>
              <a:t>Юридический адрес:</a:t>
            </a:r>
            <a:r>
              <a:rPr lang="ru-RU" sz="2000" dirty="0"/>
              <a:t> ул. Советская, 86, Слободской, Кировская обл., 613150.</a:t>
            </a:r>
            <a:r>
              <a:rPr lang="ru-RU" sz="2000" b="1" dirty="0"/>
              <a:t> </a:t>
            </a:r>
            <a:endParaRPr lang="ru-RU" sz="2000" dirty="0"/>
          </a:p>
          <a:p>
            <a:pPr algn="just"/>
            <a:r>
              <a:rPr lang="ru-RU" sz="2000" b="1" dirty="0"/>
              <a:t>Специализация отдела:</a:t>
            </a:r>
            <a:r>
              <a:rPr lang="ru-RU" sz="2000" dirty="0"/>
              <a:t> организация социальной поддержки граждан, назначение пособий, работа с льготными категориями, ведение базы получателей социальных услуг.</a:t>
            </a:r>
          </a:p>
          <a:p>
            <a:pPr algn="just"/>
            <a:r>
              <a:rPr lang="ru-RU" sz="2000" b="1" dirty="0"/>
              <a:t>Структура отдела:</a:t>
            </a:r>
            <a:r>
              <a:rPr lang="ru-RU" sz="2000" dirty="0"/>
              <a:t> руководитель отдела, несколько специалистов по направлениям (социальные выплаты, работа с пожилыми, поддержка семей с детьми), бухгалтерия, системный администратор. Всего около 10–15 сотрудников.</a:t>
            </a:r>
          </a:p>
        </p:txBody>
      </p:sp>
    </p:spTree>
    <p:extLst>
      <p:ext uri="{BB962C8B-B14F-4D97-AF65-F5344CB8AC3E}">
        <p14:creationId xmlns:p14="http://schemas.microsoft.com/office/powerpoint/2010/main" val="185122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6BB29-3D57-DEC4-DB13-686032F2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Анализ предметной области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2E361C-9F81-9ABF-61F5-1E8DE19D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228" y="1750874"/>
            <a:ext cx="2349943" cy="4521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D7062B-12A9-6CB8-6E3A-5D33CC69D3CA}"/>
              </a:ext>
            </a:extLst>
          </p:cNvPr>
          <p:cNvSpPr txBox="1"/>
          <p:nvPr/>
        </p:nvSpPr>
        <p:spPr>
          <a:xfrm>
            <a:off x="8117048" y="6365144"/>
            <a:ext cx="4074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174BC-BD81-8339-2C87-39E317730617}"/>
              </a:ext>
            </a:extLst>
          </p:cNvPr>
          <p:cNvSpPr txBox="1"/>
          <p:nvPr/>
        </p:nvSpPr>
        <p:spPr>
          <a:xfrm>
            <a:off x="530696" y="1778151"/>
            <a:ext cx="74472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Предметная область - процесс приёма, регистрации, обработки и контроля исполнения обращений граждан в администрации. </a:t>
            </a:r>
          </a:p>
          <a:p>
            <a:pPr algn="just"/>
            <a:r>
              <a:rPr lang="ru-RU" dirty="0"/>
              <a:t>Основные бизнес-процессы:</a:t>
            </a:r>
          </a:p>
          <a:p>
            <a:pPr algn="just"/>
            <a:r>
              <a:rPr lang="ru-RU" dirty="0"/>
              <a:t>•	подача обращения гражданином с указанием темы, текста и (опционально) прикреплённых файлов;</a:t>
            </a:r>
          </a:p>
          <a:p>
            <a:pPr algn="just"/>
            <a:r>
              <a:rPr lang="ru-RU" dirty="0"/>
              <a:t>•	проверка и регистрация обращения оператором приёмной, классификацию по категориям;</a:t>
            </a:r>
          </a:p>
          <a:p>
            <a:pPr algn="just"/>
            <a:r>
              <a:rPr lang="ru-RU" dirty="0"/>
              <a:t>•	назначение ответственного исполнителя из структурного подразделения;</a:t>
            </a:r>
          </a:p>
          <a:p>
            <a:pPr algn="just"/>
            <a:r>
              <a:rPr lang="ru-RU" dirty="0"/>
              <a:t>•	исполнение обращения, изменение его статуса, комментирование;</a:t>
            </a:r>
          </a:p>
          <a:p>
            <a:pPr algn="just"/>
            <a:r>
              <a:rPr lang="ru-RU" dirty="0"/>
              <a:t>•	контроль сроков и формирование отчётности для руководства.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Выделены следующие категории пользователей: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/>
              <a:t>граждане (заявители),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/>
              <a:t>операторы приёмной,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/>
              <a:t>исполнители (сотрудники отделов),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/>
              <a:t>администратор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16034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FBC39-13AF-6980-2F6A-9A591A48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Проектирование базы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50081-24DC-4A48-6F50-4A5FEAF7A494}"/>
              </a:ext>
            </a:extLst>
          </p:cNvPr>
          <p:cNvSpPr txBox="1"/>
          <p:nvPr/>
        </p:nvSpPr>
        <p:spPr>
          <a:xfrm>
            <a:off x="538993" y="2025467"/>
            <a:ext cx="6885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На основе ER-модели разработана реляционная база данных, нормализованная до третьей нормальной формы. Определены следующие таблицы: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ApplicationUser</a:t>
            </a:r>
            <a:r>
              <a:rPr lang="ru-RU" dirty="0"/>
              <a:t> – пользователи приложения (логин, пароль, роль, ФИО и др.);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Appeal</a:t>
            </a:r>
            <a:r>
              <a:rPr lang="ru-RU" dirty="0"/>
              <a:t> – обращения (автор, заголовок, описание, категория, статус, исполнитель);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Category</a:t>
            </a:r>
            <a:r>
              <a:rPr lang="ru-RU" dirty="0"/>
              <a:t> – категории обращений;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Status</a:t>
            </a:r>
            <a:r>
              <a:rPr lang="ru-RU" dirty="0"/>
              <a:t> – статусы обращений (с признаком конечности);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AppealHistory</a:t>
            </a:r>
            <a:r>
              <a:rPr lang="ru-RU" dirty="0"/>
              <a:t> – история действий (создание, смена статуса, комментарии);</a:t>
            </a:r>
          </a:p>
          <a:p>
            <a:pPr algn="just"/>
            <a:r>
              <a:rPr lang="ru-RU" dirty="0"/>
              <a:t>•	</a:t>
            </a:r>
            <a:r>
              <a:rPr lang="ru-RU" dirty="0" err="1"/>
              <a:t>Attachment</a:t>
            </a:r>
            <a:r>
              <a:rPr lang="ru-RU" dirty="0"/>
              <a:t> – прикреплённые файлы.</a:t>
            </a:r>
          </a:p>
          <a:p>
            <a:pPr algn="just"/>
            <a:r>
              <a:rPr lang="ru-RU" dirty="0"/>
              <a:t>Связи между таблицами реализованы через внешние ключи с каскадным удалением для истории и вложений.</a:t>
            </a:r>
          </a:p>
          <a:p>
            <a:pPr algn="just"/>
            <a:r>
              <a:rPr lang="ru-RU" dirty="0"/>
              <a:t>Физическая модель реализована в СУБД Microsoft SQL Server.</a:t>
            </a:r>
          </a:p>
          <a:p>
            <a:pPr algn="just"/>
            <a:r>
              <a:rPr lang="ru-RU" dirty="0"/>
              <a:t>База данных заполнена свыше 2600 тестовыми записями.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B1F115-CF30-3E89-1611-09D0F294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34" y="1703690"/>
            <a:ext cx="3998017" cy="41057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33B755-995C-2B3E-2B8B-3B534EB376BF}"/>
              </a:ext>
            </a:extLst>
          </p:cNvPr>
          <p:cNvSpPr txBox="1"/>
          <p:nvPr/>
        </p:nvSpPr>
        <p:spPr>
          <a:xfrm>
            <a:off x="7691934" y="5949632"/>
            <a:ext cx="399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ER-</a:t>
            </a:r>
            <a:r>
              <a:rPr lang="ru-RU" dirty="0"/>
              <a:t>диаграмма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21152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7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2A2B-EBD3-66DF-75E2-9C213405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Разработка программного модуля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D926F3-254F-C3F7-06ED-4429BE73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19" y="4235814"/>
            <a:ext cx="5371201" cy="18440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6BC680-8C7C-1334-36C1-EFB298F9F233}"/>
              </a:ext>
            </a:extLst>
          </p:cNvPr>
          <p:cNvSpPr txBox="1"/>
          <p:nvPr/>
        </p:nvSpPr>
        <p:spPr>
          <a:xfrm>
            <a:off x="888818" y="6088118"/>
            <a:ext cx="5371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Командная строка API ASP.NET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2B9422-F505-2DD9-FD67-3CB0905A0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91" y="1657101"/>
            <a:ext cx="2369017" cy="28982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0D9083-4D35-6B71-EA8B-4399482F4C06}"/>
              </a:ext>
            </a:extLst>
          </p:cNvPr>
          <p:cNvSpPr txBox="1"/>
          <p:nvPr/>
        </p:nvSpPr>
        <p:spPr>
          <a:xfrm>
            <a:off x="9559690" y="4739234"/>
            <a:ext cx="23690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Окно входа клиентского приложения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D0925-7A94-E25E-3389-4E73D436DE81}"/>
              </a:ext>
            </a:extLst>
          </p:cNvPr>
          <p:cNvSpPr txBox="1"/>
          <p:nvPr/>
        </p:nvSpPr>
        <p:spPr>
          <a:xfrm>
            <a:off x="359077" y="2046760"/>
            <a:ext cx="88874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Серверная часть </a:t>
            </a:r>
            <a:r>
              <a:rPr lang="ru-RU" dirty="0"/>
              <a:t>– предоставляет REST-</a:t>
            </a:r>
            <a:r>
              <a:rPr lang="ru-RU" dirty="0" err="1"/>
              <a:t>эндпоинты</a:t>
            </a:r>
            <a:r>
              <a:rPr lang="ru-RU" dirty="0"/>
              <a:t> для аутентификации, управления обращениями, пользователями, категориями, статусами и вложениями. Доступ к данным осуществляется через </a:t>
            </a:r>
            <a:r>
              <a:rPr lang="ru-RU" dirty="0" err="1"/>
              <a:t>Entity</a:t>
            </a:r>
            <a:r>
              <a:rPr lang="ru-RU" dirty="0"/>
              <a:t> Framework Core. Аутентификация выполняется по паре логин/пароль, передаваемых в заголовках запросов.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Клиентская часть </a:t>
            </a:r>
            <a:r>
              <a:rPr lang="ru-RU" dirty="0"/>
              <a:t>– выполняет HTTP-запросы и </a:t>
            </a:r>
            <a:r>
              <a:rPr lang="ru-RU" dirty="0" err="1"/>
              <a:t>десериализует</a:t>
            </a:r>
            <a:r>
              <a:rPr lang="ru-RU" dirty="0"/>
              <a:t> ответы. Пользовательский интерфейс адаптируется под роль авторизованного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47430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00"/>
                            </p:stCondLst>
                            <p:childTnLst>
                              <p:par>
                                <p:cTn id="3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533F3-FDAF-B368-EDF2-01B592B1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Интеграция с </a:t>
            </a:r>
            <a:r>
              <a:rPr lang="en-US" sz="4800" dirty="0"/>
              <a:t>API</a:t>
            </a:r>
            <a:endParaRPr lang="ru-RU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0233D-51B5-D869-CF66-E3D4A4201C00}"/>
              </a:ext>
            </a:extLst>
          </p:cNvPr>
          <p:cNvSpPr txBox="1"/>
          <p:nvPr/>
        </p:nvSpPr>
        <p:spPr>
          <a:xfrm>
            <a:off x="755008" y="2084830"/>
            <a:ext cx="51927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Интеграция выполнена путём замены прямого доступа к базе данных в клиентском приложении на вызовы API. Сервис </a:t>
            </a:r>
            <a:r>
              <a:rPr lang="ru-RU" sz="2000" dirty="0" err="1"/>
              <a:t>ApiService</a:t>
            </a:r>
            <a:r>
              <a:rPr lang="ru-RU" sz="2000" dirty="0"/>
              <a:t> формирует HTTP-запросы, добавляет </a:t>
            </a:r>
            <a:r>
              <a:rPr lang="ru-RU" sz="2000" dirty="0" err="1"/>
              <a:t>авторизационные</a:t>
            </a:r>
            <a:r>
              <a:rPr lang="ru-RU" sz="2000" dirty="0"/>
              <a:t> заголовки X-</a:t>
            </a:r>
            <a:r>
              <a:rPr lang="ru-RU" sz="2000" dirty="0" err="1"/>
              <a:t>Login</a:t>
            </a:r>
            <a:r>
              <a:rPr lang="ru-RU" sz="2000" dirty="0"/>
              <a:t> и X-Password, обрабатывает ответы. При ошибках сервера или сети пользователю отображаются соответствующие сообщения.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7F77A9-B06F-BEAB-BA23-1DB5571BD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570" y="2084831"/>
            <a:ext cx="5329554" cy="32589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90FF3C-9941-661F-E764-B2E61C2E3D23}"/>
              </a:ext>
            </a:extLst>
          </p:cNvPr>
          <p:cNvSpPr txBox="1"/>
          <p:nvPr/>
        </p:nvSpPr>
        <p:spPr>
          <a:xfrm>
            <a:off x="6550570" y="5477903"/>
            <a:ext cx="5329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Отображение данных, полученных через API</a:t>
            </a:r>
          </a:p>
        </p:txBody>
      </p:sp>
    </p:spTree>
    <p:extLst>
      <p:ext uri="{BB962C8B-B14F-4D97-AF65-F5344CB8AC3E}">
        <p14:creationId xmlns:p14="http://schemas.microsoft.com/office/powerpoint/2010/main" val="3172317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58F0BF-CA73-3F1F-35B3-0746F4BA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047630" cy="1499616"/>
          </a:xfrm>
        </p:spPr>
        <p:txBody>
          <a:bodyPr>
            <a:normAutofit/>
          </a:bodyPr>
          <a:lstStyle/>
          <a:p>
            <a:r>
              <a:rPr lang="ru-RU" sz="4400" dirty="0"/>
              <a:t>Отладка программных модулей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D2EC3-FCEC-0D56-2FC7-67A786CDC22E}"/>
              </a:ext>
            </a:extLst>
          </p:cNvPr>
          <p:cNvSpPr txBox="1"/>
          <p:nvPr/>
        </p:nvSpPr>
        <p:spPr>
          <a:xfrm>
            <a:off x="682426" y="1913984"/>
            <a:ext cx="46781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Отладка проводилась с использованием встроенных средств Visual Studio, а также инструментов тестирования HTTP-запросов (</a:t>
            </a:r>
            <a:r>
              <a:rPr lang="ru-RU" dirty="0" err="1"/>
              <a:t>Postman</a:t>
            </a:r>
            <a:r>
              <a:rPr lang="ru-RU" dirty="0"/>
              <a:t>). Для серверной части проверялась корректность маршрутов и ответов, для клиентской – правильность формирования запросов и обработки ответов. Выявленные ошибки, связанные с циклическими ссылками при сериализации JSON, были устранены путём проецирования данных на анонимные типы.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5AE3C7-B5F8-B509-838C-38534857A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163" y="1913984"/>
            <a:ext cx="6081897" cy="364280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4F2D35-BB8A-77A6-682E-1F3CDEA25D54}"/>
              </a:ext>
            </a:extLst>
          </p:cNvPr>
          <p:cNvSpPr txBox="1"/>
          <p:nvPr/>
        </p:nvSpPr>
        <p:spPr>
          <a:xfrm>
            <a:off x="5799163" y="5620624"/>
            <a:ext cx="608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Выполнение отладки в Visual Studio</a:t>
            </a:r>
          </a:p>
        </p:txBody>
      </p:sp>
    </p:spTree>
    <p:extLst>
      <p:ext uri="{BB962C8B-B14F-4D97-AF65-F5344CB8AC3E}">
        <p14:creationId xmlns:p14="http://schemas.microsoft.com/office/powerpoint/2010/main" val="379904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Рефакторинг программного кода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4ABE1-4D48-D048-7F2D-799F19D8AB52}"/>
              </a:ext>
            </a:extLst>
          </p:cNvPr>
          <p:cNvSpPr txBox="1"/>
          <p:nvPr/>
        </p:nvSpPr>
        <p:spPr>
          <a:xfrm>
            <a:off x="916498" y="1975775"/>
            <a:ext cx="49557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Доработка обработкой исключительных ситуаций</a:t>
            </a:r>
          </a:p>
          <a:p>
            <a:endParaRPr lang="ru-RU" dirty="0"/>
          </a:p>
          <a:p>
            <a:pPr algn="just"/>
            <a:r>
              <a:rPr lang="ru-RU" dirty="0"/>
              <a:t>В клиентском приложении реализована централизованная обработка исключений в классе </a:t>
            </a:r>
            <a:r>
              <a:rPr lang="ru-RU" dirty="0" err="1"/>
              <a:t>ApiService</a:t>
            </a:r>
            <a:r>
              <a:rPr lang="ru-RU" dirty="0"/>
              <a:t>. В зависимости от кода состояния HTTP и наличия сообщения от сервера формируется понятное пользователю сообщение. Например, ошибка 401 «</a:t>
            </a:r>
            <a:r>
              <a:rPr lang="ru-RU" dirty="0" err="1"/>
              <a:t>Unauthorized</a:t>
            </a:r>
            <a:r>
              <a:rPr lang="ru-RU" dirty="0"/>
              <a:t>» преобразуется в «Неверный логин или пароль, либо недостаточно прав», ошибка 404 – «Запрашиваемый объект не найден». При сетевых сбоях выводится «Ошибка соединения».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94F75-2140-9F5A-ACEA-981B41A35F03}"/>
              </a:ext>
            </a:extLst>
          </p:cNvPr>
          <p:cNvSpPr txBox="1"/>
          <p:nvPr/>
        </p:nvSpPr>
        <p:spPr>
          <a:xfrm>
            <a:off x="6207852" y="1975775"/>
            <a:ext cx="55192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Рефакторинг программного кода</a:t>
            </a:r>
          </a:p>
          <a:p>
            <a:endParaRPr lang="ru-RU" b="1" dirty="0"/>
          </a:p>
          <a:p>
            <a:pPr algn="just"/>
            <a:r>
              <a:rPr lang="ru-RU" dirty="0"/>
              <a:t>•	Изменена архитектура клиента: добавлен слой сервиса </a:t>
            </a:r>
            <a:r>
              <a:rPr lang="ru-RU" dirty="0" err="1"/>
              <a:t>ApiService</a:t>
            </a:r>
            <a:r>
              <a:rPr lang="ru-RU" dirty="0"/>
              <a:t>, избавив </a:t>
            </a:r>
            <a:r>
              <a:rPr lang="ru-RU" dirty="0" err="1"/>
              <a:t>ViewModel</a:t>
            </a:r>
            <a:r>
              <a:rPr lang="ru-RU" dirty="0"/>
              <a:t>-классы от прямого использования </a:t>
            </a:r>
            <a:r>
              <a:rPr lang="ru-RU" dirty="0" err="1"/>
              <a:t>AppDbContext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•	Все команды, связанные с вводом-выводом, переведены на асинхронное выполнение с помощью </a:t>
            </a:r>
            <a:r>
              <a:rPr lang="ru-RU" dirty="0" err="1"/>
              <a:t>AsyncRelayCommand</a:t>
            </a:r>
            <a:r>
              <a:rPr lang="ru-RU" dirty="0"/>
              <a:t>, что исключает блокировку пользовательского интерфейса.</a:t>
            </a:r>
          </a:p>
          <a:p>
            <a:pPr algn="just"/>
            <a:r>
              <a:rPr lang="ru-RU" dirty="0"/>
              <a:t>•	Модели данных адаптированы под JSON-сериализацию.</a:t>
            </a:r>
          </a:p>
          <a:p>
            <a:pPr algn="just"/>
            <a:r>
              <a:rPr lang="ru-RU" dirty="0"/>
              <a:t>•	Проведена очистка неиспользуемых зависимостей и унификация обработки ответов от API.</a:t>
            </a:r>
          </a:p>
        </p:txBody>
      </p:sp>
    </p:spTree>
    <p:extLst>
      <p:ext uri="{BB962C8B-B14F-4D97-AF65-F5344CB8AC3E}">
        <p14:creationId xmlns:p14="http://schemas.microsoft.com/office/powerpoint/2010/main" val="343667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rmAutofit/>
          </a:bodyPr>
          <a:lstStyle/>
          <a:p>
            <a:r>
              <a:rPr lang="ru-RU" sz="4400" dirty="0"/>
              <a:t>Ручное тестирование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F18D7-0A5B-DBEB-3117-39944AE138B4}"/>
              </a:ext>
            </a:extLst>
          </p:cNvPr>
          <p:cNvSpPr txBox="1"/>
          <p:nvPr/>
        </p:nvSpPr>
        <p:spPr>
          <a:xfrm>
            <a:off x="664827" y="1979969"/>
            <a:ext cx="48970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Ручное тестирование проводилось по заранее составленным тест-кейсам, охватывающим функциональность всех ролей. Всего разработано и выполнено 29 тестов (16 тест-кейсов для клиентского приложения и 13 запросов в </a:t>
            </a:r>
            <a:r>
              <a:rPr lang="ru-RU" sz="2000" dirty="0" err="1"/>
              <a:t>Postman</a:t>
            </a:r>
            <a:r>
              <a:rPr lang="ru-RU" sz="2000" dirty="0"/>
              <a:t> для тестирования API).</a:t>
            </a:r>
          </a:p>
          <a:p>
            <a:pPr algn="just"/>
            <a:endParaRPr lang="ru-RU" sz="2000" dirty="0"/>
          </a:p>
          <a:p>
            <a:r>
              <a:rPr lang="ru-RU" sz="2000" dirty="0"/>
              <a:t>Все тесты завершились успешно, что подтверждает соответствие реализованной функциональности требованиям.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B5DDC0-7152-17CD-4E1A-3E57426A0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313" y="1979969"/>
            <a:ext cx="6118623" cy="28980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48618-6B36-600D-CEEB-77BCF5914C3B}"/>
              </a:ext>
            </a:extLst>
          </p:cNvPr>
          <p:cNvSpPr txBox="1"/>
          <p:nvPr/>
        </p:nvSpPr>
        <p:spPr>
          <a:xfrm>
            <a:off x="5782313" y="4966283"/>
            <a:ext cx="611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Выполнение тестового запроса в </a:t>
            </a:r>
            <a:r>
              <a:rPr lang="en-US" dirty="0"/>
              <a:t>Postman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54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rmAutofit/>
          </a:bodyPr>
          <a:lstStyle/>
          <a:p>
            <a:r>
              <a:rPr lang="ru-RU" sz="4400" dirty="0"/>
              <a:t>Модульное и Интеграционное  тестирование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88575-3717-148C-7B18-175B52593D7D}"/>
              </a:ext>
            </a:extLst>
          </p:cNvPr>
          <p:cNvSpPr txBox="1"/>
          <p:nvPr/>
        </p:nvSpPr>
        <p:spPr>
          <a:xfrm>
            <a:off x="823855" y="2361831"/>
            <a:ext cx="51665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Модульное тестирование проведено для клиентского сервиса </a:t>
            </a:r>
            <a:r>
              <a:rPr lang="ru-RU" dirty="0" err="1"/>
              <a:t>ApiService</a:t>
            </a:r>
            <a:r>
              <a:rPr lang="ru-RU" dirty="0"/>
              <a:t> с использованием фреймворков </a:t>
            </a:r>
            <a:r>
              <a:rPr lang="ru-RU" dirty="0" err="1"/>
              <a:t>NUnit</a:t>
            </a:r>
            <a:r>
              <a:rPr lang="ru-RU" dirty="0"/>
              <a:t> и </a:t>
            </a:r>
            <a:r>
              <a:rPr lang="ru-RU" dirty="0" err="1"/>
              <a:t>Moq</a:t>
            </a:r>
            <a:r>
              <a:rPr lang="ru-RU" dirty="0"/>
              <a:t>. Были протестированы сценарии успешного выполнения запросов, ошибок аутентификации, сетевых исключений и проверки добавления заголовков.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8C681-FF6F-5728-B023-BA0E4D1D9A31}"/>
              </a:ext>
            </a:extLst>
          </p:cNvPr>
          <p:cNvSpPr txBox="1"/>
          <p:nvPr/>
        </p:nvSpPr>
        <p:spPr>
          <a:xfrm>
            <a:off x="6201562" y="2084832"/>
            <a:ext cx="56940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Интеграционные тесты выполнены для API с помощью </a:t>
            </a:r>
            <a:r>
              <a:rPr lang="ru-RU" dirty="0" err="1"/>
              <a:t>WebApplicationFactory</a:t>
            </a:r>
            <a:r>
              <a:rPr lang="ru-RU" dirty="0"/>
              <a:t> и </a:t>
            </a:r>
            <a:r>
              <a:rPr lang="ru-RU" dirty="0" err="1"/>
              <a:t>in-memory</a:t>
            </a:r>
            <a:r>
              <a:rPr lang="ru-RU" dirty="0"/>
              <a:t> базы данных. Сценарии включают полный жизненный цикл обращения (регистрация, вход, создание, получение списка, удаление), работу оператора по обновлению статуса и назначению исполнителя, доступ администратора к списку пользователей и проверку отказа в доступе без авторизации.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6E2EFE-26D2-468A-A4E4-E63C4FA1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55" y="4721341"/>
            <a:ext cx="4868318" cy="15514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689A0E-A085-7005-B18B-CBD74BAAF2EF}"/>
              </a:ext>
            </a:extLst>
          </p:cNvPr>
          <p:cNvSpPr txBox="1"/>
          <p:nvPr/>
        </p:nvSpPr>
        <p:spPr>
          <a:xfrm>
            <a:off x="823855" y="6272784"/>
            <a:ext cx="4862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Результаты модульного тестирования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E5B9AFA-6530-8A56-9789-D7ED1C036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29" y="4721340"/>
            <a:ext cx="5212050" cy="15514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0A19B1-A2FE-1AD6-046B-C4B224605D9D}"/>
              </a:ext>
            </a:extLst>
          </p:cNvPr>
          <p:cNvSpPr txBox="1"/>
          <p:nvPr/>
        </p:nvSpPr>
        <p:spPr>
          <a:xfrm>
            <a:off x="6505757" y="6272784"/>
            <a:ext cx="5206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Результаты интеграционного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473076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Разработка документации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805FE-D430-30A3-2F06-85B53C35D884}"/>
              </a:ext>
            </a:extLst>
          </p:cNvPr>
          <p:cNvSpPr txBox="1"/>
          <p:nvPr/>
        </p:nvSpPr>
        <p:spPr>
          <a:xfrm>
            <a:off x="704676" y="1908663"/>
            <a:ext cx="59058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Для разработанной программной системы была написана сопровождающая документация: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b="1" dirty="0"/>
              <a:t>Руководство оператора </a:t>
            </a:r>
            <a:r>
              <a:rPr lang="ru-RU" dirty="0"/>
              <a:t>- описывает порядок работы с приложением для всех категорий пользователей. Документ содержит инструкции по запуску, входу в систему, основным операциям (создание, обработка, удаление обращений, администрирование пользователей) и действиям в нештатных ситуациях.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b="1" dirty="0"/>
              <a:t>Пояснительная записка - </a:t>
            </a:r>
            <a:r>
              <a:rPr lang="ru-RU" dirty="0"/>
              <a:t>содержит описание архитектуры системы, перечень реализованных функций, обоснование технических решений, результаты тестирования и инструкции по развёртыванию. Документ позволяет получить полное представление о программном комплексе, его структуре и логике работы.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C6E902-D7A8-A9C0-9CD7-96D7710D9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" t="-461" r="2592" b="461"/>
          <a:stretch/>
        </p:blipFill>
        <p:spPr>
          <a:xfrm>
            <a:off x="6868218" y="1788433"/>
            <a:ext cx="5044149" cy="4247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6724A0-C980-E604-42B2-BFDEB10C36F9}"/>
              </a:ext>
            </a:extLst>
          </p:cNvPr>
          <p:cNvSpPr txBox="1"/>
          <p:nvPr/>
        </p:nvSpPr>
        <p:spPr>
          <a:xfrm>
            <a:off x="6868218" y="6155980"/>
            <a:ext cx="504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Написание пояснительной записки</a:t>
            </a:r>
          </a:p>
        </p:txBody>
      </p:sp>
    </p:spTree>
    <p:extLst>
      <p:ext uri="{BB962C8B-B14F-4D97-AF65-F5344CB8AC3E}">
        <p14:creationId xmlns:p14="http://schemas.microsoft.com/office/powerpoint/2010/main" val="1654591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56848-F275-098D-D625-23EC7FF8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6B166-114E-9E02-58A8-7C48F5105FA1}"/>
              </a:ext>
            </a:extLst>
          </p:cNvPr>
          <p:cNvSpPr txBox="1"/>
          <p:nvPr/>
        </p:nvSpPr>
        <p:spPr>
          <a:xfrm>
            <a:off x="234891" y="1791217"/>
            <a:ext cx="1169425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ходе выполнения практики по модулю «Осуществление интеграции программных модулей» была достигнута поставленная цель – разработана информационная система учёта обращений граждан, состоящая из серверного API и клиентского приложения.</a:t>
            </a:r>
          </a:p>
          <a:p>
            <a:pPr algn="just"/>
            <a:r>
              <a:rPr lang="ru-RU" sz="2000" dirty="0"/>
              <a:t>Решены следующие задачи:</a:t>
            </a:r>
          </a:p>
          <a:p>
            <a:pPr algn="just"/>
            <a:r>
              <a:rPr lang="ru-RU" sz="2000" dirty="0"/>
              <a:t>•	Проведён анализ предметной области, построены UML-диаграммы (</a:t>
            </a:r>
            <a:r>
              <a:rPr lang="ru-RU" sz="2000" dirty="0" err="1"/>
              <a:t>Use</a:t>
            </a:r>
            <a:r>
              <a:rPr lang="ru-RU" sz="2000" dirty="0"/>
              <a:t> Case) и ER-модель.</a:t>
            </a:r>
          </a:p>
          <a:p>
            <a:pPr algn="just"/>
            <a:r>
              <a:rPr lang="ru-RU" sz="2000" dirty="0"/>
              <a:t>•	Спроектирована нормализованная база данных и выполнено её развёртывание с заполнением тестовыми данными.</a:t>
            </a:r>
          </a:p>
          <a:p>
            <a:pPr algn="just"/>
            <a:r>
              <a:rPr lang="ru-RU" sz="2000" dirty="0"/>
              <a:t>•	Разработан программный модуль в виде Web API на ASP.NET Core и WPF-клиента.</a:t>
            </a:r>
          </a:p>
          <a:p>
            <a:pPr algn="just"/>
            <a:r>
              <a:rPr lang="ru-RU" sz="2000" dirty="0"/>
              <a:t>•	Реализована интеграция клиента с API, включая авторизацию и обработку ошибок.</a:t>
            </a:r>
          </a:p>
          <a:p>
            <a:pPr algn="just"/>
            <a:r>
              <a:rPr lang="ru-RU" sz="2000" dirty="0"/>
              <a:t>•	Выполнена отладка, рефакторинг, ручное, модульное и интеграционное тестирование.</a:t>
            </a:r>
          </a:p>
          <a:p>
            <a:pPr algn="just"/>
            <a:r>
              <a:rPr lang="ru-RU" sz="2000" dirty="0"/>
              <a:t>•	Подготовлены руководство оператора и пояснительная записка.</a:t>
            </a:r>
          </a:p>
          <a:p>
            <a:pPr algn="just"/>
            <a:r>
              <a:rPr lang="ru-RU" sz="2000" dirty="0"/>
              <a:t>Полученные навыки проектирования, разработки и тестирования многоуровневых приложений, а также работы с системой контроля версий соответствуют задачам практической подготовки.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73B9C-2B6D-5316-668E-6940EBDE7166}"/>
              </a:ext>
            </a:extLst>
          </p:cNvPr>
          <p:cNvSpPr txBox="1"/>
          <p:nvPr/>
        </p:nvSpPr>
        <p:spPr>
          <a:xfrm>
            <a:off x="0" y="601886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Репозиторий с файлами практики - </a:t>
            </a:r>
            <a:r>
              <a:rPr lang="en-US" sz="2400" b="1" dirty="0"/>
              <a:t>https://github.com/ScioSilentium13/PM</a:t>
            </a:r>
            <a:r>
              <a:rPr lang="ru-RU" sz="2400" b="1" dirty="0"/>
              <a:t>02</a:t>
            </a:r>
            <a:r>
              <a:rPr lang="en-US" sz="2400" b="1" dirty="0"/>
              <a:t>_PrPr_2026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8989100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CB0BB-8DFA-A444-ADCE-B52C90C9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13456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C00B4"/>
                                      </p:to>
                                    </p:animClr>
                                    <p:animClr clrSpc="rgb" dir="cw">
                                      <p:cBhvr>
                                        <p:cTn id="28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C00B4"/>
                                      </p:to>
                                    </p:animClr>
                                    <p:set>
                                      <p:cBhvr>
                                        <p:cTn id="29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2" grpId="3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535</TotalTime>
  <Words>1132</Words>
  <Application>Microsoft Office PowerPoint</Application>
  <PresentationFormat>Широкоэкранный</PresentationFormat>
  <Paragraphs>94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Aptos</vt:lpstr>
      <vt:lpstr>Calibri</vt:lpstr>
      <vt:lpstr>Times New Roman</vt:lpstr>
      <vt:lpstr>Tw Cen MT</vt:lpstr>
      <vt:lpstr>Tw Cen MT Condensed</vt:lpstr>
      <vt:lpstr>Wingdings</vt:lpstr>
      <vt:lpstr>Wingdings 3</vt:lpstr>
      <vt:lpstr>Интеграл</vt:lpstr>
      <vt:lpstr>Производственная практика Пестов Арсений Николаевич</vt:lpstr>
      <vt:lpstr>Характеристика объекта практики</vt:lpstr>
      <vt:lpstr>Анализ предметной области</vt:lpstr>
      <vt:lpstr>Проектирование базы данных</vt:lpstr>
      <vt:lpstr>Разработка программного модуля</vt:lpstr>
      <vt:lpstr>Интеграция с API</vt:lpstr>
      <vt:lpstr>Отладка программных модулей</vt:lpstr>
      <vt:lpstr>Рефакторинг программного кода</vt:lpstr>
      <vt:lpstr>Ручное тестирование</vt:lpstr>
      <vt:lpstr>Модульное и Интеграционное  тестирование</vt:lpstr>
      <vt:lpstr>Разработка документации </vt:lpstr>
      <vt:lpstr>Заключение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177</cp:revision>
  <dcterms:created xsi:type="dcterms:W3CDTF">2026-04-21T08:25:52Z</dcterms:created>
  <dcterms:modified xsi:type="dcterms:W3CDTF">2026-07-06T14:29:35Z</dcterms:modified>
</cp:coreProperties>
</file>